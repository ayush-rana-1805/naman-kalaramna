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ec8a55facd4f39" /><Relationship Type="http://schemas.openxmlformats.org/officeDocument/2006/relationships/extended-properties" Target="/docProps/app.xml" Id="R79af3907de234685" /><Relationship Type="http://schemas.openxmlformats.org/officeDocument/2006/relationships/officeDocument" Target="/ppt/presentation.xml" Id="Ra7c9d612fb824e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a558ec3c0d4466"/>
  </p:sldMasterIdLst>
  <p:notesMasterIdLst>
    <p:notesMasterId xmlns:r="http://schemas.openxmlformats.org/officeDocument/2006/relationships" r:id="R24159c876c824585"/>
  </p:notesMasterIdLst>
  <p:sldIdLst>
    <p:sldId xmlns:r="http://schemas.openxmlformats.org/officeDocument/2006/relationships" id="256" r:id="R29e836aec6344c27"/>
    <p:sldId xmlns:r="http://schemas.openxmlformats.org/officeDocument/2006/relationships" id="257" r:id="R5f9fcba1ad4f4a31"/>
    <p:sldId xmlns:r="http://schemas.openxmlformats.org/officeDocument/2006/relationships" id="258" r:id="R5e24ef4320944d56"/>
    <p:sldId xmlns:r="http://schemas.openxmlformats.org/officeDocument/2006/relationships" id="259" r:id="R371e3ce744304c23"/>
    <p:sldId xmlns:r="http://schemas.openxmlformats.org/officeDocument/2006/relationships" id="260" r:id="Rf06b8ba60ebb45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11c5595f524acf" /><Relationship Type="http://schemas.openxmlformats.org/officeDocument/2006/relationships/slideMaster" Target="/ppt/slideMasters/slideMaster1.xml" Id="Rf0a558ec3c0d4466" /><Relationship Type="http://schemas.openxmlformats.org/officeDocument/2006/relationships/notesMaster" Target="/ppt/notesMasters/notesMaster1.xml" Id="R24159c876c824585" /><Relationship Type="http://schemas.openxmlformats.org/officeDocument/2006/relationships/presProps" Target="/ppt/presProps.xml" Id="Rf137546cbeb14eb7" /><Relationship Type="http://schemas.openxmlformats.org/officeDocument/2006/relationships/tableStyles" Target="/ppt/tableStyles.xml" Id="R3b8077762c1e4b46" /><Relationship Type="http://schemas.openxmlformats.org/officeDocument/2006/relationships/slide" Target="/ppt/slides/slide1.xml" Id="R29e836aec6344c27" /><Relationship Type="http://schemas.openxmlformats.org/officeDocument/2006/relationships/slide" Target="/ppt/slides/slide2.xml" Id="R5f9fcba1ad4f4a31" /><Relationship Type="http://schemas.openxmlformats.org/officeDocument/2006/relationships/slide" Target="/ppt/slides/slide3.xml" Id="R5e24ef4320944d56" /><Relationship Type="http://schemas.openxmlformats.org/officeDocument/2006/relationships/slide" Target="/ppt/slides/slide4.xml" Id="R371e3ce744304c23" /><Relationship Type="http://schemas.openxmlformats.org/officeDocument/2006/relationships/slide" Target="/ppt/slides/slide5.xml" Id="Rf06b8ba60ebb45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898373706941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53ab552b7437e" /><Relationship Type="http://schemas.openxmlformats.org/officeDocument/2006/relationships/notesMaster" Target="/ppt/notesMasters/notesMaster1.xml" Id="Raab26f852e4246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a95429a8ad46df" /><Relationship Type="http://schemas.openxmlformats.org/officeDocument/2006/relationships/notesMaster" Target="/ppt/notesMasters/notesMaster1.xml" Id="Rf689fa2737e4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6e4a2f2b754ad2" /><Relationship Type="http://schemas.openxmlformats.org/officeDocument/2006/relationships/notesMaster" Target="/ppt/notesMasters/notesMaster1.xml" Id="R040f899ce3b547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7af09c03cf4a24" /><Relationship Type="http://schemas.openxmlformats.org/officeDocument/2006/relationships/notesMaster" Target="/ppt/notesMasters/notesMaster1.xml" Id="R8608139c5d724c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3467f6fceb4136" /><Relationship Type="http://schemas.openxmlformats.org/officeDocument/2006/relationships/notesMaster" Target="/ppt/notesMasters/notesMaster1.xml" Id="R59742a1e724848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ea7fca10648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614ee4a7e40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1e06723bb4e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f085b579a43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d2113c3ad40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a729216e24f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EB11F7-95D3-46DC-BFEE-EC186C542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33D4A9-1CFC-43E4-82A6-288289FDDDB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BDBB62-0875-4B69-A0B1-270E147C5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E3DEE3-3DE1-4B3B-88B2-BB0B45F2C3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523628-1154-419F-914E-7446B4A28A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D15C95-2E65-44E6-8DA1-E3A1C671FC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9210D0-E179-49EF-88BA-E6CE5CB915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91178A4-4414-4A4D-8251-A4912CA1DF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BE90C8-8EDA-4083-BA36-27FB8A2E45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66D1C6-0833-4AB2-9FBF-954F34362E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92ea3543d14684" /><Relationship Type="http://schemas.openxmlformats.org/officeDocument/2006/relationships/slideLayout" Target="/ppt/slideLayouts/slideLayout1.xml" Id="R9e5d4c6b92ee4276" /><Relationship Type="http://schemas.openxmlformats.org/officeDocument/2006/relationships/slideLayout" Target="/ppt/slideLayouts/slideLayout2.xml" Id="R204e1adbacd84621" /><Relationship Type="http://schemas.openxmlformats.org/officeDocument/2006/relationships/slideLayout" Target="/ppt/slideLayouts/slideLayout3.xml" Id="R0f0714e97f624d49" /><Relationship Type="http://schemas.openxmlformats.org/officeDocument/2006/relationships/slideLayout" Target="/ppt/slideLayouts/slideLayout4.xml" Id="Ra0c2caf3715e4222" /><Relationship Type="http://schemas.openxmlformats.org/officeDocument/2006/relationships/slideLayout" Target="/ppt/slideLayouts/slideLayout5.xml" Id="Rcd2c377acb44478e" /><Relationship Type="http://schemas.openxmlformats.org/officeDocument/2006/relationships/slideLayout" Target="/ppt/slideLayouts/slideLayout6.xml" Id="Rfbb5f9c432f04c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d4c6b92ee4276"/>
    <p:sldLayoutId xmlns:r="http://schemas.openxmlformats.org/officeDocument/2006/relationships" id="2147483650" r:id="R204e1adbacd84621"/>
    <p:sldLayoutId xmlns:r="http://schemas.openxmlformats.org/officeDocument/2006/relationships" id="2147483651" r:id="R0f0714e97f624d49"/>
    <p:sldLayoutId xmlns:r="http://schemas.openxmlformats.org/officeDocument/2006/relationships" id="2147483652" r:id="Ra0c2caf3715e4222"/>
    <p:sldLayoutId xmlns:r="http://schemas.openxmlformats.org/officeDocument/2006/relationships" id="2147483653" r:id="Rcd2c377acb44478e"/>
    <p:sldLayoutId xmlns:r="http://schemas.openxmlformats.org/officeDocument/2006/relationships" id="2147483654" r:id="Rfbb5f9c432f04c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bf45676ae343fc" /><Relationship Type="http://schemas.openxmlformats.org/officeDocument/2006/relationships/notesSlide" Target="/ppt/notesSlides/notesSlide1.xml" Id="R76d167e31cac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5253c9d4e4d66" /><Relationship Type="http://schemas.openxmlformats.org/officeDocument/2006/relationships/notesSlide" Target="/ppt/notesSlides/notesSlide2.xml" Id="R04857700172e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1961edbd14e82" /><Relationship Type="http://schemas.openxmlformats.org/officeDocument/2006/relationships/notesSlide" Target="/ppt/notesSlides/notesSlide3.xml" Id="R6f9edb61b7994e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d922f9fd54e9b" /><Relationship Type="http://schemas.openxmlformats.org/officeDocument/2006/relationships/notesSlide" Target="/ppt/notesSlides/notesSlide4.xml" Id="Ra84ce439e45f4c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f57e6ff654c59" /><Relationship Type="http://schemas.openxmlformats.org/officeDocument/2006/relationships/notesSlide" Target="/ppt/notesSlides/notesSlide5.xml" Id="R22f67c73b64249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86D31-1398-41C5-967A-DC706999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ED2C1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D2C1"/>
                </a:solidFill>
              </a:defRPr>
            </a:pPr>
            <a:r>
              <a:rPr sz="1350" b="1">
                <a:solidFill>
                  <a:srgbClr val="8ED2C1"/>
                </a:solidFill>
              </a:rPr>
              <a:t>FY27 INTERNSHIP ASSESSMENT  /  CASE STUDY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52557-E439-4903-A0FE-178019F3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Environmental accounting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and audit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1A245-C0F5-416A-B977-51F1881A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DDE9E6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DDE9E6"/>
                </a:solidFill>
              </a:defRPr>
            </a:pPr>
            <a:r>
              <a:rPr sz="1875" b="0">
                <a:solidFill>
                  <a:srgbClr val="DDE9E6"/>
                </a:solidFill>
              </a:rPr>
              <a:t>Runnable carbon model, ISO 14001:2026 gap matrix and GRI reporting tracker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25F15-3E8D-42D0-89FD-26673643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ED2C1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ED2C1"/>
                </a:solidFill>
              </a:defRPr>
            </a:pPr>
            <a:r>
              <a:rPr sz="1350" b="0">
                <a:solidFill>
                  <a:srgbClr val="8ED2C1"/>
                </a:solidFill>
              </a:rPr>
              <a:t>Synthetic demonstration  •  11 October 2026</a:t>
            </a:r>
          </a:p>
        </p:txBody>
      </p:sp>
    </p:spTree>
    <p:extLst>
      <p:ext uri="{BB962C8B-B14F-4D97-AF65-F5344CB8AC3E}">
        <p14:creationId xmlns:p14="http://schemas.microsoft.com/office/powerpoint/2010/main" val="1510641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47747-E322-4C2B-8CE0-BA20C171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836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36B"/>
                </a:solidFill>
              </a:defRPr>
            </a:pPr>
            <a:r>
              <a:rPr sz="1200" b="1">
                <a:solidFill>
                  <a:srgbClr val="16836B"/>
                </a:solidFill>
              </a:rPr>
              <a:t>CASE STUDY 4  /  ENVIRONMENTAL &amp; SUSTAINABILITY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3DA98-6067-4C64-88BE-AFF15E6C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4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24B"/>
                </a:solidFill>
              </a:defRPr>
            </a:pPr>
            <a:r>
              <a:rPr sz="2775" b="1">
                <a:solidFill>
                  <a:srgbClr val="17324B"/>
                </a:solidFill>
              </a:rPr>
              <a:t>Accounting boundary 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43ECB-4843-458E-83D5-47092D5D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Synthetic assessment demonstration  •  11 October 2026  •  2/5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63D58-24F8-487F-8F2D-64BC7B24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Scope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A4A09-7F45-4FBD-9449-EAF7249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19325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Reported direct emissions in kg CO2e; negative or missing values are quarantined.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EC372-9F91-4206-AE2F-C3F6F938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Scope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5D89F-6B3E-4202-A110-DD09CF52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Gross purchased electricity × illustrative factor. Certificate adjusted figure is sensitivity only.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AA01B-80C8-482B-9B88-A8CE568E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Limited Scope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76FC5-A92C-4956-A27F-5F252BFC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Purchased water treatment proxy plus waste generated in operations. Other categories remain unassessed.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F0664-0C9C-4DAD-AA27-A7C3FFDF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6836B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6836B"/>
                </a:solidFill>
              </a:defRPr>
            </a:pPr>
            <a:r>
              <a:rPr sz="1725" b="1">
                <a:solidFill>
                  <a:srgbClr val="16836B"/>
                </a:solidFill>
              </a:rPr>
              <a:t>Quality gate: 2,000 source rows = 1,965 accepted + 35 quarantined</a:t>
            </a:r>
          </a:p>
        </p:txBody>
      </p:sp>
    </p:spTree>
    <p:extLst>
      <p:ext uri="{BB962C8B-B14F-4D97-AF65-F5344CB8AC3E}">
        <p14:creationId xmlns:p14="http://schemas.microsoft.com/office/powerpoint/2010/main" val="17841452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A2522-6E90-4C1F-AA4F-F9E928AE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836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36B"/>
                </a:solidFill>
              </a:defRPr>
            </a:pPr>
            <a:r>
              <a:rPr sz="1200" b="1">
                <a:solidFill>
                  <a:srgbClr val="16836B"/>
                </a:solidFill>
              </a:rPr>
              <a:t>CASE STUDY 4  /  ENVIRONMENTAL &amp; SUSTAINABILITY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E0358-E25E-457E-812F-AD8C29D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4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24B"/>
                </a:solidFill>
              </a:defRPr>
            </a:pPr>
            <a:r>
              <a:rPr sz="2775" b="1">
                <a:solidFill>
                  <a:srgbClr val="17324B"/>
                </a:solidFill>
              </a:rPr>
              <a:t>Illustrative 2025 emissions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09C89-FA07-406C-86E5-CFB5CD01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Synthetic assessment demonstration  •  11 October 2026  •  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0C431-9C92-4BFE-B787-46647C4E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6836B"/>
                </a:solidFill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16836B"/>
                </a:solidFill>
              </a:defRPr>
            </a:pPr>
            <a:r>
              <a:rPr sz="3750" b="1">
                <a:solidFill>
                  <a:srgbClr val="16836B"/>
                </a:solidFill>
              </a:rPr>
              <a:t>2,796.8 tCO2e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927AC-CAD2-4CBB-BA93-E6A561AA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57475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77"/>
                </a:solidFill>
              </a:defRPr>
            </a:pPr>
            <a:r>
              <a:rPr sz="1650" b="0">
                <a:solidFill>
                  <a:srgbClr val="526477"/>
                </a:solidFill>
              </a:rPr>
              <a:t>Total of the modeled categories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A8D46-3968-418E-96C0-EB18CAB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Scope 1   918.6 tCO2e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D9838-08F8-4C9E-A15E-8A5F0E73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Direct emissions provided by the synthetic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7D196-EF16-4329-9359-936B23B8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Scope 2   1,727.5 tCO2e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1F4FD-C1C6-4EB8-96FA-6886CD08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57775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Location based, gross electricity basis.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5595A-7C75-4989-AAAB-7614887A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33575"/>
            <a:ext cx="4619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66B17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B66B17"/>
                </a:solidFill>
              </a:defRPr>
            </a:pPr>
            <a:r>
              <a:rPr sz="2850" b="1">
                <a:solidFill>
                  <a:srgbClr val="B66B17"/>
                </a:solidFill>
              </a:rPr>
              <a:t>150.6 tCO2e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2145B-3675-4CC2-85BB-F94F4DE8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4333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77"/>
                </a:solidFill>
              </a:defRPr>
            </a:pPr>
            <a:r>
              <a:rPr sz="1650" b="0">
                <a:solidFill>
                  <a:srgbClr val="526477"/>
                </a:solidFill>
              </a:rPr>
              <a:t>Limited Scope 3 from water and waste. This is not a complete Scope 3 inventory.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AE111-5DEB-43BD-8AA5-31E333FD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96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324B"/>
                </a:solidFill>
              </a:defRPr>
            </a:pPr>
            <a:r>
              <a:rPr sz="1575" b="1">
                <a:solidFill>
                  <a:srgbClr val="17324B"/>
                </a:solidFill>
              </a:rPr>
              <a:t>No year over year or peer comparison is supportable from a single synthetic period.</a:t>
            </a:r>
          </a:p>
        </p:txBody>
      </p:sp>
    </p:spTree>
    <p:extLst>
      <p:ext uri="{BB962C8B-B14F-4D97-AF65-F5344CB8AC3E}">
        <p14:creationId xmlns:p14="http://schemas.microsoft.com/office/powerpoint/2010/main" val="1690499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AD287-C606-4AB1-9F8F-7A46F08F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836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36B"/>
                </a:solidFill>
              </a:defRPr>
            </a:pPr>
            <a:r>
              <a:rPr sz="1200" b="1">
                <a:solidFill>
                  <a:srgbClr val="16836B"/>
                </a:solidFill>
              </a:rPr>
              <a:t>CASE STUDY 4  /  ENVIRONMENTAL &amp; SUSTAINABILITY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3C8F0-64B2-460E-B9A7-9B622F06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4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24B"/>
                </a:solidFill>
              </a:defRPr>
            </a:pPr>
            <a:r>
              <a:rPr sz="2775" b="1">
                <a:solidFill>
                  <a:srgbClr val="17324B"/>
                </a:solidFill>
              </a:rPr>
              <a:t>ISO 14001:2026 audit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43C9D-4630-4342-B98E-8C4087F8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Synthetic assessment demonstration  •  11 October 2026  •  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D3586-F8F2-4E7D-B7F6-E37BDA2A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Priority 1  /  define and 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C70EA-E0D6-45FC-BA42-AD781956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Approve EMS scope, aspects and impacts, legal obligations, and controlled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E7758-2740-4FE6-8C4E-102A0641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Priority 2  /  operate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D15E3-2EA4-4F03-862B-53140E3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Validate meters and factors; document waste vendor controls and emergency drills.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E1EB6-5AE8-42FE-B911-44FD6B13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Priority 3  /  test effectiveness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59A52-C15B-46D4-9F26-ABC906BD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Complete compliance evaluation, internal audit and management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E7EE5-3D6A-419E-9EE4-4470B02C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66B17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B66B17"/>
                </a:solidFill>
              </a:defRPr>
            </a:pPr>
            <a:r>
              <a:rPr sz="1650" b="1">
                <a:solidFill>
                  <a:srgbClr val="B66B17"/>
                </a:solidFill>
              </a:rPr>
              <a:t>All matrix rows remain “Not assessed” until site evidence is reviewed.</a:t>
            </a:r>
          </a:p>
        </p:txBody>
      </p:sp>
    </p:spTree>
    <p:extLst>
      <p:ext uri="{BB962C8B-B14F-4D97-AF65-F5344CB8AC3E}">
        <p14:creationId xmlns:p14="http://schemas.microsoft.com/office/powerpoint/2010/main" val="961919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4F24A-FEC8-4E89-B69F-26618D7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836B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36B"/>
                </a:solidFill>
              </a:defRPr>
            </a:pPr>
            <a:r>
              <a:rPr sz="1200" b="1">
                <a:solidFill>
                  <a:srgbClr val="16836B"/>
                </a:solidFill>
              </a:rPr>
              <a:t>CASE STUDY 4  /  ENVIRONMENTAL &amp; SUSTAINABILITY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420A1-3C70-4A2F-8438-AD733D46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48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24B"/>
                </a:solidFill>
              </a:defRPr>
            </a:pPr>
            <a:r>
              <a:rPr sz="2775" b="1">
                <a:solidFill>
                  <a:srgbClr val="17324B"/>
                </a:solidFill>
              </a:rPr>
              <a:t>GRI tracker and release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CA95D-46F9-4EFA-8168-D5C01D4D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477"/>
                </a:solidFill>
              </a:defRPr>
            </a:pPr>
            <a:r>
              <a:rPr sz="1125" b="0">
                <a:solidFill>
                  <a:srgbClr val="526477"/>
                </a:solidFill>
              </a:rPr>
              <a:t>Synthetic assessment demonstration  •  11 October 2026  •  5/5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04DEE-F3BA-46D8-9026-931B683A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Map the available activity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B2B13-275A-4CAE-BEF0-21A975D5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Energy, water, Scope 1, Scope 2, limited Scope 3 and waste are in the refresh tracker.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37576-63D2-41A2-A6D7-B72EF71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Close material evidence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3CA0-0916-4C10-BBCB-F7A5191C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Approve site factors, certificate quality, waste treatment, Scope 3 screening and comparable baselines.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DC366-4272-4235-8D6D-644021E2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324B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24B"/>
                </a:solidFill>
              </a:defRPr>
            </a:pPr>
            <a:r>
              <a:rPr sz="1800" b="1">
                <a:solidFill>
                  <a:srgbClr val="17324B"/>
                </a:solidFill>
              </a:rPr>
              <a:t>Prepare the 2027 crosswalk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6E27A-21B0-496F-B91A-F83C8F1A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1009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77"/>
                </a:solidFill>
              </a:defRPr>
            </a:pPr>
            <a:r>
              <a:rPr sz="1425" b="0">
                <a:solidFill>
                  <a:srgbClr val="526477"/>
                </a:solidFill>
              </a:rPr>
              <a:t>GRI 102 Climate Change and GRI 103 Energy become effective for reporting from 1 January 2027.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6CB23-A6A2-4FCD-B531-A37154A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477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477"/>
                </a:solidFill>
              </a:defRPr>
            </a:pPr>
            <a:r>
              <a:rPr sz="1275" b="0">
                <a:solidFill>
                  <a:srgbClr val="526477"/>
                </a:solidFill>
              </a:rPr>
              <a:t>Source: ISO 14001:2026; GRI Standards; GHG Protocol Scope 2 Guidance</a:t>
            </a:r>
          </a:p>
        </p:txBody>
      </p:sp>
    </p:spTree>
    <p:extLst>
      <p:ext uri="{BB962C8B-B14F-4D97-AF65-F5344CB8AC3E}">
        <p14:creationId xmlns:p14="http://schemas.microsoft.com/office/powerpoint/2010/main" val="726806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2026-10-11T14:27:30.3860000Z</dcterms:created>
  <dcterms:modified xsi:type="dcterms:W3CDTF">2026-10-11T14:27:30.3870000Z</dcterms:modified>
</coreProperties>
</file>